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1" r:id="rId11"/>
    <p:sldId id="282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3069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bìa. Giới thiệu tên nhóm, môn học, giảng viên hướng dẫn.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Trình bày mục lục 8 phần theo đúng flow thuyết trình.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Trình bày bài toán thực tế và giải pháp. Nhấn vào vấn đề mà GV/SV gặp phải hàng ngày.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mục tiêu cụ thể. Nhấn vào tính tự động hoá và đảm bảo toàn vẹn dữ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Nội dung tổng quan 3 trụ cột: kiến trúc, CSDL, chức năng.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4 tầng MVC. Nhấn vào việc tách biệt trách nhiệm.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 bảng thực tế. Nhóm 1: người dùng. Nhóm 2: đề tài &amp; đăng ký (bao gồm cả hoc_ky, mon_hoc, sinh_vien_lop). Nhóm 3: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vai trò. Nhấn vào ràng buộc cuối mỗi vai trò. SV chỉ 1 đề tài/lớp là ràng buộc quan trọng nhất.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Liệt kê đầy đủ chức năng theo 3 vai trò. Đây là slide tóm tắt trước khi vào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A56DB">
              <a:alpha val="22000"/>
            </a:srgbClr>
          </a:solidFill>
          <a:ln w="12700">
            <a:solidFill>
              <a:srgbClr val="1A56DB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046752" y="3697868"/>
            <a:ext cx="2743200" cy="2743200"/>
          </a:xfrm>
          <a:prstGeom prst="ellips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PHÂN CÔNG ĐỀ TÀI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23317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desktop hỗ trợ quản lý và phân công đề tài đồ án cho sinh viên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2944368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A56DB">
              <a:alpha val="4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29443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148840" y="2944368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A56DB">
              <a:alpha val="4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148840" y="29443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840480" y="2944368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A56DB">
              <a:alpha val="4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840480" y="29443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Môn: Công nghệ phần mềm  |  GVHD: Nguyễn Thị Bích Nguyên  |  PTIT HCM – 2026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47823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Nhóm: Đỗ Cao Cường (N23DCCN007)  |  Lê Tiến Hưng (N23DCCN023)  |  Từ Minh Quốc (N23DCAT056)</a:t>
            </a:r>
            <a:endParaRPr lang="en-US" sz="100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72BD94D6-734B-560F-F4FA-17933060BFF0}"/>
              </a:ext>
            </a:extLst>
          </p:cNvPr>
          <p:cNvSpPr/>
          <p:nvPr/>
        </p:nvSpPr>
        <p:spPr>
          <a:xfrm>
            <a:off x="1708558" y="342900"/>
            <a:ext cx="49229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MÔN HỌC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THUYẾT TRÌNH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bài trình bày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" cy="640080"/>
          </a:xfrm>
          <a:prstGeom prst="roundRect">
            <a:avLst>
              <a:gd name="adj" fmla="val 10909"/>
            </a:avLst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188720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đề tài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51790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dự án, bối cảnh, lý do chọn đề tài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502920" cy="640080"/>
          </a:xfrm>
          <a:prstGeom prst="roundRect">
            <a:avLst>
              <a:gd name="adj" fmla="val 10909"/>
            </a:avLst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148840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dự án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47802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cụ thể cần đạt được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502920" cy="640080"/>
          </a:xfrm>
          <a:prstGeom prst="roundRect">
            <a:avLst>
              <a:gd name="adj" fmla="val 10909"/>
            </a:avLst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108960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dự án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43814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chức năng và thành phần hệ thống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79046" y="114300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70486" y="1234440"/>
            <a:ext cx="502920" cy="640080"/>
          </a:xfrm>
          <a:prstGeom prst="roundRect">
            <a:avLst>
              <a:gd name="adj" fmla="val 10909"/>
            </a:avLst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70486" y="12344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64846" y="1234440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hệ thống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64846" y="156362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trúc, công nghệ, cơ sở dữ liệu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79046" y="2076178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70486" y="2167618"/>
            <a:ext cx="502920" cy="640080"/>
          </a:xfrm>
          <a:prstGeom prst="roundRect">
            <a:avLst>
              <a:gd name="adj" fmla="val 10909"/>
            </a:avLst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70486" y="216761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64846" y="2167618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tượng người dùng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64846" y="2496802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vai trò và quyền hạn tương ứng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79046" y="3036298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70486" y="3127738"/>
            <a:ext cx="502920" cy="640080"/>
          </a:xfrm>
          <a:prstGeom prst="roundRect">
            <a:avLst>
              <a:gd name="adj" fmla="val 10909"/>
            </a:avLst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70486" y="312773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64846" y="3127738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chức năng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64846" y="3456922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Liệt kê toàn bộ tính năng theo từng vai trò</a:t>
            </a:r>
            <a:endParaRPr lang="en-US" sz="1050" dirty="0"/>
          </a:p>
        </p:txBody>
      </p:sp>
      <p:sp>
        <p:nvSpPr>
          <p:cNvPr id="35" name="Rounded Rectangle 34"/>
          <p:cNvSpPr/>
          <p:nvPr/>
        </p:nvSpPr>
        <p:spPr>
          <a:xfrm>
            <a:off x="457200" y="4096512"/>
            <a:ext cx="502920" cy="502920"/>
          </a:xfrm>
          <a:prstGeom prst="roundRect">
            <a:avLst/>
          </a:prstGeom>
          <a:solidFill>
            <a:srgbClr val="EFF6FF"/>
          </a:solidFill>
          <a:ln w="1778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500" b="1">
                <a:solidFill>
                  <a:srgbClr val="2563EB"/>
                </a:solidFill>
                <a:latin typeface="Calibri"/>
              </a:rPr>
              <a:t>VII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4096512"/>
            <a:ext cx="3401568" cy="23774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Luồng nghiệp vụ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4379976"/>
            <a:ext cx="3401568" cy="23774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Quy trình Admin – GV – SV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73752" y="4096512"/>
            <a:ext cx="502920" cy="502920"/>
          </a:xfrm>
          <a:prstGeom prst="roundRect">
            <a:avLst/>
          </a:prstGeom>
          <a:solidFill>
            <a:srgbClr val="EFF6FF"/>
          </a:solidFill>
          <a:ln w="1778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500" b="1">
                <a:solidFill>
                  <a:srgbClr val="2563EB"/>
                </a:solidFill>
                <a:latin typeface="Calibri"/>
              </a:rPr>
              <a:t>VIII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68112" y="4096512"/>
            <a:ext cx="3401568" cy="23774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Kết luận &amp; Q&amp;A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68112" y="4379976"/>
            <a:ext cx="3401568" cy="23774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Tóm tắt kết quả và trả lời câu hỏi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GIỚI THIỆU ĐỀ TÀI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và lý do chọn đề tài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2743200"/>
          </a:xfrm>
          <a:prstGeom prst="roundRect">
            <a:avLst>
              <a:gd name="adj" fmla="val 2667"/>
            </a:avLst>
          </a:prstGeom>
          <a:solidFill>
            <a:srgbClr val="FFF7ED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548640"/>
          </a:xfrm>
          <a:prstGeom prst="roundRect">
            <a:avLst>
              <a:gd name="adj" fmla="val 11667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hiện tại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37947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đề tài bằng Excel/email/giấy tờ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kiểm soát được số lượng SV / đề tài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cơ chế phân quyền rõ ràng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xảy ra trùng lặp, mất dữ liệu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theo dõi lịch sử thay đổi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2743200"/>
          </a:xfrm>
          <a:prstGeom prst="roundRect">
            <a:avLst>
              <a:gd name="adj" fmla="val 2667"/>
            </a:avLst>
          </a:prstGeom>
          <a:solidFill>
            <a:srgbClr val="F0FDF4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114800" cy="548640"/>
          </a:xfrm>
          <a:prstGeom prst="roundRect">
            <a:avLst>
              <a:gd name="adj" fmla="val 11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10972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đề xuất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00600" y="1737360"/>
            <a:ext cx="37947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desktop JavaFX tập trung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dữ liệu SQL Server đồng bộ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quyền 3 vai trò: Admin – GV – SV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</a:t>
            </a:r>
            <a:r>
              <a:rPr lang="en-US" sz="13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hoá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theo dõi mọi thay đổi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D2B55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995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25 + JavaFX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279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ứng dụng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3995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4279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dữ liệu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3995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4279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thư viện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49440" y="3995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Pattern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4279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phần mềm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MỤC TIÊU DỰ ÁN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Những gì hệ thống cần đạt được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66928" cy="566928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243584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188720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đề tài tập trung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82880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phép giảng viên xây dựng ngân hàng đề tài, gán đề tài vào từng lớp học phần với số lượng sinh viên tối đa mỗi đề tài.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64408" y="1097280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01568" y="1188720"/>
            <a:ext cx="566928" cy="5669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243584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59936" y="1188720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hoá phân công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401568" y="182880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tự đăng ký hoặc giảng viên phân công thủ công. Hệ thống tự cập nhật số lượng và trạng thái đề tài.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08776" y="1097280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345936" y="1188720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243584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04304" y="1188720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Đảm bảo toàn vẹn dữ liệu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345936" y="182880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Ràng buộc nghiệp vụ được kiểm tra ở 3 tầng: Java Service – Stored Procedure – Database Trigger.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20040" y="3017520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57200" y="3108960"/>
            <a:ext cx="566928" cy="5669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" y="3163824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15568" y="3108960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quyền rõ ràng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374904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vai trò với quyền hạn độc lập: Quản trị viên, Giảng viên, Sinh viên. Không thể truy cập chức năng ngoài quyền.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264408" y="3017520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3401568" y="3108960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6432" y="3163824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059936" y="3108960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lịch sử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401568" y="374904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hành động đăng ký, hủy, phân công đều được ghi vào audit log. Giảng viên có thể tra cứu lịch sử bất kỳ lúc nào.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208776" y="3017520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6345936" y="3108960"/>
            <a:ext cx="566928" cy="5669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163824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004304" y="3108960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thân thiện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345936" y="374904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desktop JavaFX với CSS tùy chỉnh, dễ sử dụng, không cần cài thêm phần mềm ngoài Java Runtime.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NỘI DUNG DỰ ÁN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thành phần chính của hệ thống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00200" y="1036864"/>
            <a:ext cx="27432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00200" y="1036864"/>
            <a:ext cx="2743200" cy="777240"/>
          </a:xfrm>
          <a:prstGeom prst="roundRect">
            <a:avLst>
              <a:gd name="adj" fmla="val 8235"/>
            </a:avLst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368" y="1100872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77440" y="1100872"/>
            <a:ext cx="1801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phần mềm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755648" y="1951264"/>
            <a:ext cx="128016" cy="128016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965960" y="1905544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MVC </a:t>
            </a:r>
            <a:r>
              <a:rPr lang="vi-VN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tầng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1755648" y="2426752"/>
            <a:ext cx="128016" cy="128016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965960" y="238103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500" b="1">
                <a:solidFill>
                  <a:srgbClr val="1E293B"/>
                </a:solidFill>
                <a:latin typeface="Calibri"/>
              </a:rPr>
              <a:t>View → Controller → Service → DAO → Database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755648" y="2902240"/>
            <a:ext cx="128016" cy="128016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965960" y="285652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biệt giao diện và logic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755648" y="3377728"/>
            <a:ext cx="128016" cy="128016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965960" y="333200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FXML + CSS cho View tầng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4905756" y="1051560"/>
            <a:ext cx="27432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4905756" y="1051560"/>
            <a:ext cx="2743200" cy="777240"/>
          </a:xfrm>
          <a:prstGeom prst="roundRect">
            <a:avLst>
              <a:gd name="adj" fmla="val 823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924" y="1115568"/>
            <a:ext cx="475488" cy="47548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682996" y="1115568"/>
            <a:ext cx="1801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hệ thống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5061204" y="1965960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5271516" y="192024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tài khoản &amp; phân quyền</a:t>
            </a:r>
            <a:endParaRPr lang="en-US" sz="1250" dirty="0"/>
          </a:p>
        </p:txBody>
      </p:sp>
      <p:sp>
        <p:nvSpPr>
          <p:cNvPr id="35" name="Shape 30"/>
          <p:cNvSpPr/>
          <p:nvPr/>
        </p:nvSpPr>
        <p:spPr>
          <a:xfrm>
            <a:off x="5061204" y="244144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5271516" y="239572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đề tài &amp; lớp học phần</a:t>
            </a:r>
            <a:endParaRPr lang="en-US" sz="1250" dirty="0"/>
          </a:p>
        </p:txBody>
      </p:sp>
      <p:sp>
        <p:nvSpPr>
          <p:cNvPr id="37" name="Shape 32"/>
          <p:cNvSpPr/>
          <p:nvPr/>
        </p:nvSpPr>
        <p:spPr>
          <a:xfrm>
            <a:off x="5061204" y="2916936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5271516" y="287121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/ Hủy / Phân công</a:t>
            </a:r>
            <a:endParaRPr lang="en-US" sz="1250" dirty="0"/>
          </a:p>
        </p:txBody>
      </p:sp>
      <p:sp>
        <p:nvSpPr>
          <p:cNvPr id="39" name="Shape 34"/>
          <p:cNvSpPr/>
          <p:nvPr/>
        </p:nvSpPr>
        <p:spPr>
          <a:xfrm>
            <a:off x="5061204" y="3392424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/>
          <p:nvPr/>
        </p:nvSpPr>
        <p:spPr>
          <a:xfrm>
            <a:off x="5271516" y="3346704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&amp; thống kê</a:t>
            </a:r>
            <a:endParaRPr lang="en-US" sz="1250" dirty="0"/>
          </a:p>
        </p:txBody>
      </p:sp>
      <p:sp>
        <p:nvSpPr>
          <p:cNvPr id="41" name="Shape 36"/>
          <p:cNvSpPr/>
          <p:nvPr/>
        </p:nvSpPr>
        <p:spPr>
          <a:xfrm>
            <a:off x="365760" y="4919472"/>
            <a:ext cx="8412480" cy="164592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37"/>
          <p:cNvSpPr/>
          <p:nvPr/>
        </p:nvSpPr>
        <p:spPr>
          <a:xfrm>
            <a:off x="548640" y="49194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source code tổ chức theo package rõ ràng, mỗi lớp có 1 trách nhiệm duy nhất (Single Responsibility Principle)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GIỚI THIỆU HỆ THỐNG – KIẾN TRÚC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MVC </a:t>
            </a:r>
            <a:r>
              <a:rPr lang="vi-VN" sz="1200" dirty="0">
                <a:solidFill>
                  <a:srgbClr val="AA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200" dirty="0">
                <a:solidFill>
                  <a:srgbClr val="AA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tầng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22614" y="1082331"/>
            <a:ext cx="5943600" cy="360730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43D746C-B4D4-BE8C-0B90-9A04B9F03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2496" y="1078992"/>
            <a:ext cx="4312947" cy="36106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GIỚI THIỆU HỆ THỐNG – CƠ SỞ DỮ LIỆU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AA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phan_cong_de_tai</a:t>
            </a:r>
            <a:r>
              <a:rPr lang="en-US" sz="1200" dirty="0">
                <a:solidFill>
                  <a:srgbClr val="AA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13 bảng SQL Server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74904" y="1078992"/>
            <a:ext cx="2743200" cy="3730752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bảng thực tế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44752"/>
            <a:ext cx="2487168" cy="2395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10128" y="1078992"/>
            <a:ext cx="548640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310128" y="1078992"/>
            <a:ext cx="5486400" cy="347472"/>
          </a:xfrm>
          <a:prstGeom prst="roundRect">
            <a:avLst>
              <a:gd name="adj" fmla="val 15789"/>
            </a:avLst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401568" y="109728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1 – Người dùng (3 bảng)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429000" y="14813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tai_khoan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166360" y="148132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nhập, vai trò, trạng thái tài khoản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429000" y="17922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sinh_vien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166360" y="179222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SV, lớp sinh hoạt, ngành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429000" y="21031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giang_vien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166360" y="210312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GV, học vị, bộ môn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310128" y="2578608"/>
            <a:ext cx="5486400" cy="1956816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310128" y="2578608"/>
            <a:ext cx="5486400" cy="347472"/>
          </a:xfrm>
          <a:prstGeom prst="roundRect">
            <a:avLst>
              <a:gd name="adj" fmla="val 15789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401568" y="259689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2 – Đề tài &amp; Đăng ký (7 bảng)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429000" y="29809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ngan_hang_de_tai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394960" y="2980944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đề tài do GV tạo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429000" y="32004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de_tai_lop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394960" y="3200400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 gán vào lớp, số lượng tối đa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429000" y="341985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lop_hoc_phan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394960" y="341985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học phần theo học kỳ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429000" y="36393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hoc_ky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394960" y="3639312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học kỳ, năm học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429000" y="38587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mon_hoc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394960" y="3858768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mục môn học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3429000" y="40782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dot_dang_ky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394960" y="4078224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ĐK: thời gian mở/đóng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3429000" y="42976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dang_ky_de_tai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394960" y="4297680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phân công cuối cùng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3310128" y="4617720"/>
            <a:ext cx="54864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3310128" y="4636008"/>
            <a:ext cx="5486400" cy="347472"/>
          </a:xfrm>
          <a:prstGeom prst="roundRect">
            <a:avLst>
              <a:gd name="adj" fmla="val 157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3401568" y="463600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3 – Audit (3 bảng): sinh_vien_lop  |  lich_su_dang_ky  |  nhat_ky_he_thong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ĐỐI TƯỢNG NGƯỜI DÙNG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phục vụ 3 nhóm người dùng chính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70632" cy="3749040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770632" cy="868680"/>
          </a:xfrm>
          <a:prstGeom prst="roundRect">
            <a:avLst>
              <a:gd name="adj" fmla="val 7368"/>
            </a:avLst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1556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1155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VIÊN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198424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quản lý hệ thống, thường là cán bộ IT hoặc trưởng bộ môn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2523744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Quyền hạn: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816352"/>
            <a:ext cx="109728" cy="109728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277063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toàn bộ tài khoản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163824"/>
            <a:ext cx="109728" cy="109728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" y="3118104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Khoá / mở khoá người dùng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511296"/>
            <a:ext cx="109728" cy="109728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3465576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nhật ký hệ thống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858768"/>
            <a:ext cx="109728" cy="109728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080" y="3813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danh mục: môn học, học kỳ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11480" y="4480560"/>
            <a:ext cx="2587752" cy="228600"/>
          </a:xfrm>
          <a:prstGeom prst="roundRect">
            <a:avLst>
              <a:gd name="adj" fmla="val 32000"/>
            </a:avLst>
          </a:prstGeom>
          <a:solidFill>
            <a:srgbClr val="FFFBEB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02920" y="4480560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trực tiếp can thiệp vào phân công đề tài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264408" y="1051560"/>
            <a:ext cx="2770632" cy="3749040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264408" y="1051560"/>
            <a:ext cx="2770632" cy="868680"/>
          </a:xfrm>
          <a:prstGeom prst="roundRect">
            <a:avLst>
              <a:gd name="adj" fmla="val 736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115568"/>
            <a:ext cx="502920" cy="5029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995928" y="11155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3401568" y="198424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phụ trách lớp học phần, tạo đề tài và quản lý phân công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3401568" y="2523744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Quyền hạn: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401568" y="281635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3584448" y="277063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và quản lý ngân hàng đề tài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3401568" y="316382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3584448" y="3118104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Mở/đóng cổng đăng ký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3401568" y="3511296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3584448" y="3465576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công thủ công cho SV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3401568" y="385876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3584448" y="3813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danh sách cuối kỳ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3401568" y="420624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3584448" y="416052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báo cáo và thống kê lớp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3355848" y="4480560"/>
            <a:ext cx="2587752" cy="228600"/>
          </a:xfrm>
          <a:prstGeom prst="roundRect">
            <a:avLst>
              <a:gd name="adj" fmla="val 32000"/>
            </a:avLst>
          </a:prstGeom>
          <a:solidFill>
            <a:srgbClr val="FFFBEB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3447288" y="4480560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quản lý lớp học phần của mình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6208776" y="1051560"/>
            <a:ext cx="2770632" cy="3749040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6"/>
          <p:cNvSpPr/>
          <p:nvPr/>
        </p:nvSpPr>
        <p:spPr>
          <a:xfrm>
            <a:off x="6208776" y="1051560"/>
            <a:ext cx="2770632" cy="868680"/>
          </a:xfrm>
          <a:prstGeom prst="roundRect">
            <a:avLst>
              <a:gd name="adj" fmla="val 7368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115568"/>
            <a:ext cx="502920" cy="50292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940296" y="11155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</a:t>
            </a:r>
            <a:endParaRPr lang="en-US" sz="1400" dirty="0"/>
          </a:p>
        </p:txBody>
      </p:sp>
      <p:sp>
        <p:nvSpPr>
          <p:cNvPr id="43" name="Text 38"/>
          <p:cNvSpPr/>
          <p:nvPr/>
        </p:nvSpPr>
        <p:spPr>
          <a:xfrm>
            <a:off x="6345936" y="198424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cuối, tự đăng ký đề tài trong thời gian cổng mở</a:t>
            </a:r>
            <a:endParaRPr lang="en-US" sz="1050" dirty="0"/>
          </a:p>
        </p:txBody>
      </p:sp>
      <p:sp>
        <p:nvSpPr>
          <p:cNvPr id="44" name="Text 39"/>
          <p:cNvSpPr/>
          <p:nvPr/>
        </p:nvSpPr>
        <p:spPr>
          <a:xfrm>
            <a:off x="6345936" y="2523744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Quyền hạn: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6345936" y="2816352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1"/>
          <p:cNvSpPr/>
          <p:nvPr/>
        </p:nvSpPr>
        <p:spPr>
          <a:xfrm>
            <a:off x="6528816" y="277063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danh sách đề tài còn chỗ</a:t>
            </a:r>
            <a:endParaRPr lang="en-US" sz="1100" dirty="0"/>
          </a:p>
        </p:txBody>
      </p:sp>
      <p:sp>
        <p:nvSpPr>
          <p:cNvPr id="47" name="Shape 42"/>
          <p:cNvSpPr/>
          <p:nvPr/>
        </p:nvSpPr>
        <p:spPr>
          <a:xfrm>
            <a:off x="6345936" y="3163824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/>
          <p:nvPr/>
        </p:nvSpPr>
        <p:spPr>
          <a:xfrm>
            <a:off x="6528816" y="3118104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đăng ký đề tài yêu thích</a:t>
            </a:r>
            <a:endParaRPr lang="en-US" sz="1100" dirty="0"/>
          </a:p>
        </p:txBody>
      </p:sp>
      <p:sp>
        <p:nvSpPr>
          <p:cNvPr id="49" name="Shape 44"/>
          <p:cNvSpPr/>
          <p:nvPr/>
        </p:nvSpPr>
        <p:spPr>
          <a:xfrm>
            <a:off x="6345936" y="3511296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5"/>
          <p:cNvSpPr/>
          <p:nvPr/>
        </p:nvSpPr>
        <p:spPr>
          <a:xfrm>
            <a:off x="6528816" y="3465576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Hủy đăng ký khi cổng còn mở</a:t>
            </a:r>
            <a:endParaRPr lang="en-US" sz="1100" dirty="0"/>
          </a:p>
        </p:txBody>
      </p:sp>
      <p:sp>
        <p:nvSpPr>
          <p:cNvPr id="51" name="Shape 46"/>
          <p:cNvSpPr/>
          <p:nvPr/>
        </p:nvSpPr>
        <p:spPr>
          <a:xfrm>
            <a:off x="6345936" y="3858768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7"/>
          <p:cNvSpPr/>
          <p:nvPr/>
        </p:nvSpPr>
        <p:spPr>
          <a:xfrm>
            <a:off x="6528816" y="3813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kết quả và lịch sử đăng ký</a:t>
            </a:r>
            <a:endParaRPr lang="en-US" sz="1100" dirty="0"/>
          </a:p>
        </p:txBody>
      </p:sp>
      <p:sp>
        <p:nvSpPr>
          <p:cNvPr id="53" name="Shape 48"/>
          <p:cNvSpPr/>
          <p:nvPr/>
        </p:nvSpPr>
        <p:spPr>
          <a:xfrm>
            <a:off x="6300216" y="4480560"/>
            <a:ext cx="2587752" cy="228600"/>
          </a:xfrm>
          <a:prstGeom prst="roundRect">
            <a:avLst>
              <a:gd name="adj" fmla="val 32000"/>
            </a:avLst>
          </a:prstGeom>
          <a:solidFill>
            <a:srgbClr val="FFFBEB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49"/>
          <p:cNvSpPr/>
          <p:nvPr/>
        </p:nvSpPr>
        <p:spPr>
          <a:xfrm>
            <a:off x="6391656" y="4480560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SV chỉ có 1 đề tài trong 1 lớp học phần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VI. DANH SÁCH CHỨC NĂNG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Liệt kê tính năng theo từng vai trò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33472" cy="37490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633472" cy="475488"/>
          </a:xfrm>
          <a:prstGeom prst="roundRect">
            <a:avLst>
              <a:gd name="adj" fmla="val 11538"/>
            </a:avLst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viên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/ Đăng xuất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92938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tài khoản GV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2585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tài khoản SV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58775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Khoá / Mở khoá tài khoản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91693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môn học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học kỳ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5753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nhật ký hệ thống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27248" y="1051560"/>
            <a:ext cx="27432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127248" y="1051560"/>
            <a:ext cx="2743200" cy="475488"/>
          </a:xfrm>
          <a:prstGeom prst="roundRect">
            <a:avLst>
              <a:gd name="adj" fmla="val 1153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27248" y="10515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64408" y="1600200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/ Đăng xuất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64408" y="1929384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lớp học phần phụ trách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64408" y="2258568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ngân hàng đề tài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64408" y="2587752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Gán đề tài vào lớp học phần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64408" y="2916936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cổng đăng ký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64408" y="3246120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công thủ công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64408" y="3575304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danh sách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64408" y="3904488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báo cáo nhóm đề tài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64408" y="4233672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SV chưa có đề tài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53328" y="1051560"/>
            <a:ext cx="2724912" cy="374904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053328" y="1051560"/>
            <a:ext cx="2724912" cy="475488"/>
          </a:xfrm>
          <a:prstGeom prst="roundRect">
            <a:avLst>
              <a:gd name="adj" fmla="val 11538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053328" y="1051560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90488" y="16002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/ Đăng xuất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90488" y="192938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lớp học phần của mình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90488" y="22585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danh sách đề tài còn chỗ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90488" y="25877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chi tiết đề tài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90488" y="29169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đề tài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90488" y="32461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Hủy đăng ký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90488" y="357530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đề tài đã đăng ký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90488" y="39044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lịch sử đăng ký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315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VII. LUỒNG NGHIỆP VỤ TỔNG QUÁT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03504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Từ cấu hình hệ thống đến chốt danh sách phân công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609344" y="1929384"/>
            <a:ext cx="228599" cy="0"/>
          </a:xfrm>
          <a:prstGeom prst="line">
            <a:avLst/>
          </a:prstGeom>
          <a:ln w="228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072384" y="1929384"/>
            <a:ext cx="228600" cy="0"/>
          </a:xfrm>
          <a:prstGeom prst="line">
            <a:avLst/>
          </a:prstGeom>
          <a:ln w="228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35424" y="1929384"/>
            <a:ext cx="228600" cy="0"/>
          </a:xfrm>
          <a:prstGeom prst="line">
            <a:avLst/>
          </a:prstGeom>
          <a:ln w="228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98464" y="1929384"/>
            <a:ext cx="228600" cy="0"/>
          </a:xfrm>
          <a:prstGeom prst="line">
            <a:avLst/>
          </a:prstGeom>
          <a:ln w="228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>
            <a:cxnSpLocks/>
            <a:endCxn id="19" idx="1"/>
          </p:cNvCxnSpPr>
          <p:nvPr/>
        </p:nvCxnSpPr>
        <p:spPr>
          <a:xfrm>
            <a:off x="7461503" y="1929384"/>
            <a:ext cx="265177" cy="0"/>
          </a:xfrm>
          <a:prstGeom prst="line">
            <a:avLst/>
          </a:prstGeom>
          <a:ln w="228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11480" y="1600200"/>
            <a:ext cx="1170432" cy="658368"/>
          </a:xfrm>
          <a:prstGeom prst="roundRect">
            <a:avLst/>
          </a:prstGeom>
          <a:solidFill>
            <a:srgbClr val="EFF6FF"/>
          </a:solidFill>
          <a:ln w="1778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1
Admin tạo nền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19" y="1600200"/>
            <a:ext cx="1170432" cy="658368"/>
          </a:xfrm>
          <a:prstGeom prst="roundRect">
            <a:avLst/>
          </a:prstGeom>
          <a:solidFill>
            <a:srgbClr val="ECFDF5"/>
          </a:solidFill>
          <a:ln w="1778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2
GV tạo đề tài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600200"/>
            <a:ext cx="1170432" cy="658368"/>
          </a:xfrm>
          <a:prstGeom prst="roundRect">
            <a:avLst/>
          </a:prstGeom>
          <a:solidFill>
            <a:srgbClr val="ECFDF5"/>
          </a:solidFill>
          <a:ln w="1778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3
Gán đề tài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1600200"/>
            <a:ext cx="1170432" cy="658368"/>
          </a:xfrm>
          <a:prstGeom prst="roundRect">
            <a:avLst/>
          </a:prstGeom>
          <a:solidFill>
            <a:srgbClr val="FFFBEB"/>
          </a:solidFill>
          <a:ln w="177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200" b="1" dirty="0">
                <a:solidFill>
                  <a:srgbClr val="0F172A"/>
                </a:solidFill>
                <a:latin typeface="Calibri"/>
              </a:rPr>
              <a:t>4
</a:t>
            </a:r>
            <a:r>
              <a:rPr sz="1200" b="1" dirty="0" err="1">
                <a:solidFill>
                  <a:srgbClr val="0F172A"/>
                </a:solidFill>
                <a:latin typeface="Calibri"/>
              </a:rPr>
              <a:t>Chọn</a:t>
            </a:r>
            <a:r>
              <a:rPr sz="1200" b="1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0F172A"/>
                </a:solidFill>
                <a:latin typeface="Calibri"/>
              </a:rPr>
              <a:t>chế</a:t>
            </a:r>
            <a:r>
              <a:rPr sz="1200" b="1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0F172A"/>
                </a:solidFill>
                <a:latin typeface="Calibri"/>
              </a:rPr>
              <a:t>độ</a:t>
            </a:r>
            <a:endParaRPr sz="1200" b="1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63640" y="1600200"/>
            <a:ext cx="1170432" cy="658368"/>
          </a:xfrm>
          <a:prstGeom prst="roundRect">
            <a:avLst/>
          </a:prstGeom>
          <a:solidFill>
            <a:srgbClr val="EFF6FF"/>
          </a:solidFill>
          <a:ln w="1778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5
SV đăng ký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80" y="1600200"/>
            <a:ext cx="1170432" cy="658368"/>
          </a:xfrm>
          <a:prstGeom prst="roundRect">
            <a:avLst/>
          </a:prstGeom>
          <a:solidFill>
            <a:srgbClr val="F5F3FF"/>
          </a:solidFill>
          <a:ln w="177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200" b="1" dirty="0">
                <a:solidFill>
                  <a:srgbClr val="0F172A"/>
                </a:solidFill>
                <a:latin typeface="Calibri"/>
              </a:rPr>
              <a:t>6
GV </a:t>
            </a:r>
            <a:r>
              <a:rPr sz="1200" b="1" dirty="0" err="1">
                <a:solidFill>
                  <a:srgbClr val="0F172A"/>
                </a:solidFill>
                <a:latin typeface="Calibri"/>
              </a:rPr>
              <a:t>chốt</a:t>
            </a:r>
            <a:r>
              <a:rPr sz="1200" b="1" dirty="0">
                <a:solidFill>
                  <a:srgbClr val="0F172A"/>
                </a:solidFill>
                <a:latin typeface="Calibri"/>
              </a:rPr>
              <a:t> 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41648"/>
            <a:ext cx="777240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Nguyên tắc nghiệp vụ: mỗi sinh viên chỉ có 1 đề tài trong 1 lớp học phần; đề tài không được vượt số lượng tối đa.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315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VIII. LUỒNG ĐĂNG KÝ &amp; PHÂN CÔNG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03504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Hai hướng xử lý tùy theo chế độ phân công của lớp học phần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2148840" y="1143000"/>
            <a:ext cx="2423160" cy="630936"/>
          </a:xfrm>
          <a:prstGeom prst="line">
            <a:avLst/>
          </a:prstGeom>
          <a:ln w="2159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572000" y="1143000"/>
            <a:ext cx="1965960" cy="630936"/>
          </a:xfrm>
          <a:prstGeom prst="line">
            <a:avLst/>
          </a:prstGeom>
          <a:ln w="2159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48840" y="2212848"/>
            <a:ext cx="0" cy="146304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148840" y="2779776"/>
            <a:ext cx="0" cy="146303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48840" y="3346703"/>
            <a:ext cx="0" cy="146305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48840" y="3913631"/>
            <a:ext cx="0" cy="146305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42531" y="2212848"/>
            <a:ext cx="0" cy="146304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42531" y="2779776"/>
            <a:ext cx="0" cy="146303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542531" y="3346703"/>
            <a:ext cx="0" cy="146305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42531" y="3913631"/>
            <a:ext cx="0" cy="146305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iamond 13"/>
          <p:cNvSpPr/>
          <p:nvPr/>
        </p:nvSpPr>
        <p:spPr>
          <a:xfrm>
            <a:off x="3931920" y="896112"/>
            <a:ext cx="1280160" cy="475488"/>
          </a:xfrm>
          <a:prstGeom prst="diamond">
            <a:avLst/>
          </a:prstGeom>
          <a:solidFill>
            <a:srgbClr val="FFFFFF"/>
          </a:solidFill>
          <a:ln w="1778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Chế độ
phân công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417320"/>
            <a:ext cx="3520440" cy="320040"/>
          </a:xfrm>
          <a:prstGeom prst="roundRect">
            <a:avLst/>
          </a:prstGeom>
          <a:solidFill>
            <a:srgbClr val="EFF6FF"/>
          </a:solidFill>
          <a:ln w="1778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200" b="1">
                <a:solidFill>
                  <a:srgbClr val="2563EB"/>
                </a:solidFill>
                <a:latin typeface="Calibri"/>
              </a:rPr>
              <a:t>Luồng A – Sinh viên tự đăng ký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90872" y="1417320"/>
            <a:ext cx="3657600" cy="320040"/>
          </a:xfrm>
          <a:prstGeom prst="roundRect">
            <a:avLst/>
          </a:prstGeom>
          <a:solidFill>
            <a:srgbClr val="ECFDF5"/>
          </a:solidFill>
          <a:ln w="1778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200" b="1">
                <a:solidFill>
                  <a:srgbClr val="065F46"/>
                </a:solidFill>
                <a:latin typeface="Calibri"/>
              </a:rPr>
              <a:t>Luồng B – Giảng viên phân công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810512"/>
            <a:ext cx="33832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100" b="0">
                <a:solidFill>
                  <a:srgbClr val="1E293B"/>
                </a:solidFill>
                <a:latin typeface="Calibri"/>
              </a:rPr>
              <a:t>1. GV mở cổng đăng ký theo thời gian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377440"/>
            <a:ext cx="33832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100" b="0">
                <a:solidFill>
                  <a:srgbClr val="1E293B"/>
                </a:solidFill>
                <a:latin typeface="Calibri"/>
              </a:rPr>
              <a:t>2. SV xem danh sách đề tài còn chỗ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944368"/>
            <a:ext cx="33832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100" b="0">
                <a:solidFill>
                  <a:srgbClr val="1E293B"/>
                </a:solidFill>
                <a:latin typeface="Calibri"/>
              </a:rPr>
              <a:t>3. SV đăng ký / đổi / hủy đề tài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511296"/>
            <a:ext cx="33832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100" b="0" dirty="0">
                <a:solidFill>
                  <a:srgbClr val="1E293B"/>
                </a:solidFill>
                <a:latin typeface="Calibri"/>
              </a:rPr>
              <a:t>4. SP </a:t>
            </a:r>
            <a:r>
              <a:rPr sz="1100" b="0" dirty="0" err="1">
                <a:solidFill>
                  <a:srgbClr val="1E293B"/>
                </a:solidFill>
                <a:latin typeface="Calibri"/>
              </a:rPr>
              <a:t>kiểm</a:t>
            </a:r>
            <a:r>
              <a:rPr sz="11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Calibri"/>
              </a:rPr>
              <a:t>tra</a:t>
            </a:r>
            <a:r>
              <a:rPr sz="11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Calibri"/>
              </a:rPr>
              <a:t>cổng</a:t>
            </a:r>
            <a:r>
              <a:rPr sz="1100" b="0" dirty="0">
                <a:solidFill>
                  <a:srgbClr val="1E293B"/>
                </a:solidFill>
                <a:latin typeface="Calibri"/>
              </a:rPr>
              <a:t>, slot, </a:t>
            </a:r>
            <a:r>
              <a:rPr sz="1100" b="0" dirty="0" err="1">
                <a:solidFill>
                  <a:srgbClr val="1E293B"/>
                </a:solidFill>
                <a:latin typeface="Calibri"/>
              </a:rPr>
              <a:t>trùng</a:t>
            </a:r>
            <a:r>
              <a:rPr sz="11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Calibri"/>
              </a:rPr>
              <a:t>đăng</a:t>
            </a:r>
            <a:r>
              <a:rPr sz="11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Calibri"/>
              </a:rPr>
              <a:t>ký</a:t>
            </a:r>
            <a:endParaRPr sz="1100" b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7200" y="4078224"/>
            <a:ext cx="33832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en-US" sz="1100" dirty="0">
                <a:solidFill>
                  <a:srgbClr val="1E293B"/>
                </a:solidFill>
              </a:rPr>
              <a:t>5. GV </a:t>
            </a:r>
            <a:r>
              <a:rPr lang="en-US" sz="1100" dirty="0" err="1">
                <a:solidFill>
                  <a:srgbClr val="1E293B"/>
                </a:solidFill>
              </a:rPr>
              <a:t>chốt</a:t>
            </a:r>
            <a:r>
              <a:rPr lang="en-US" sz="1100" dirty="0">
                <a:solidFill>
                  <a:srgbClr val="1E293B"/>
                </a:solidFill>
              </a:rPr>
              <a:t> </a:t>
            </a:r>
            <a:r>
              <a:rPr lang="en-US" sz="1100" dirty="0" err="1">
                <a:solidFill>
                  <a:srgbClr val="1E293B"/>
                </a:solidFill>
              </a:rPr>
              <a:t>danh</a:t>
            </a:r>
            <a:r>
              <a:rPr lang="en-US" sz="1100" dirty="0">
                <a:solidFill>
                  <a:srgbClr val="1E293B"/>
                </a:solidFill>
              </a:rPr>
              <a:t> </a:t>
            </a:r>
            <a:r>
              <a:rPr lang="en-US" sz="1100" dirty="0" err="1">
                <a:solidFill>
                  <a:srgbClr val="1E293B"/>
                </a:solidFill>
              </a:rPr>
              <a:t>sách</a:t>
            </a:r>
            <a:r>
              <a:rPr lang="en-US" sz="1100" dirty="0">
                <a:solidFill>
                  <a:srgbClr val="1E293B"/>
                </a:solidFill>
              </a:rPr>
              <a:t> </a:t>
            </a:r>
            <a:r>
              <a:rPr lang="en-US" sz="1100" dirty="0" err="1">
                <a:solidFill>
                  <a:srgbClr val="1E293B"/>
                </a:solidFill>
              </a:rPr>
              <a:t>khi</a:t>
            </a:r>
            <a:r>
              <a:rPr lang="en-US" sz="1100" dirty="0">
                <a:solidFill>
                  <a:srgbClr val="1E293B"/>
                </a:solidFill>
              </a:rPr>
              <a:t> </a:t>
            </a:r>
            <a:r>
              <a:rPr lang="en-US" sz="1100" dirty="0" err="1">
                <a:solidFill>
                  <a:srgbClr val="1E293B"/>
                </a:solidFill>
              </a:rPr>
              <a:t>đủ</a:t>
            </a:r>
            <a:r>
              <a:rPr lang="en-US" sz="1100" dirty="0">
                <a:solidFill>
                  <a:srgbClr val="1E293B"/>
                </a:solidFill>
              </a:rPr>
              <a:t> </a:t>
            </a:r>
            <a:r>
              <a:rPr lang="en-US" sz="1100" dirty="0" err="1">
                <a:solidFill>
                  <a:srgbClr val="1E293B"/>
                </a:solidFill>
              </a:rPr>
              <a:t>sinh</a:t>
            </a:r>
            <a:r>
              <a:rPr lang="en-US" sz="1100" dirty="0">
                <a:solidFill>
                  <a:srgbClr val="1E293B"/>
                </a:solidFill>
              </a:rPr>
              <a:t> </a:t>
            </a:r>
            <a:r>
              <a:rPr lang="en-US" sz="1100" dirty="0" err="1">
                <a:solidFill>
                  <a:srgbClr val="1E293B"/>
                </a:solidFill>
              </a:rPr>
              <a:t>viên</a:t>
            </a:r>
            <a:endParaRPr lang="en-US" sz="1100" dirty="0">
              <a:solidFill>
                <a:srgbClr val="1E293B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736592" y="1810512"/>
            <a:ext cx="36118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100" b="0">
                <a:solidFill>
                  <a:srgbClr val="1E293B"/>
                </a:solidFill>
                <a:latin typeface="Calibri"/>
              </a:rPr>
              <a:t>1. GV xem SV chưa có đề tài trong lớp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36592" y="2377440"/>
            <a:ext cx="36118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100" b="0">
                <a:solidFill>
                  <a:srgbClr val="1E293B"/>
                </a:solidFill>
                <a:latin typeface="Calibri"/>
              </a:rPr>
              <a:t>2. GV chọn sinh viên và đề tài còn slot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36592" y="2944368"/>
            <a:ext cx="36118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100" b="0">
                <a:solidFill>
                  <a:srgbClr val="1E293B"/>
                </a:solidFill>
                <a:latin typeface="Calibri"/>
              </a:rPr>
              <a:t>3. Phân công thủ công hoặc tự động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6592" y="3511296"/>
            <a:ext cx="36118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100" b="0">
                <a:solidFill>
                  <a:srgbClr val="1E293B"/>
                </a:solidFill>
                <a:latin typeface="Calibri"/>
              </a:rPr>
              <a:t>4. SP kiểm tra quyền GV và ràng buộc slot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36592" y="4078224"/>
            <a:ext cx="36118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100" b="0" dirty="0">
                <a:solidFill>
                  <a:srgbClr val="1E293B"/>
                </a:solidFill>
                <a:latin typeface="Calibri"/>
              </a:rPr>
              <a:t>5. GV </a:t>
            </a:r>
            <a:r>
              <a:rPr sz="1100" b="0" dirty="0" err="1">
                <a:solidFill>
                  <a:srgbClr val="1E293B"/>
                </a:solidFill>
                <a:latin typeface="Calibri"/>
              </a:rPr>
              <a:t>chốt</a:t>
            </a:r>
            <a:r>
              <a:rPr sz="11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Calibri"/>
              </a:rPr>
              <a:t>danh</a:t>
            </a:r>
            <a:r>
              <a:rPr sz="11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Calibri"/>
              </a:rPr>
              <a:t>sách</a:t>
            </a:r>
            <a:r>
              <a:rPr sz="11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Calibri"/>
              </a:rPr>
              <a:t>khi</a:t>
            </a:r>
            <a:r>
              <a:rPr sz="11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Calibri"/>
              </a:rPr>
              <a:t>đủ</a:t>
            </a:r>
            <a:r>
              <a:rPr sz="11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Calibri"/>
              </a:rPr>
              <a:t>sinh</a:t>
            </a:r>
            <a:r>
              <a:rPr sz="11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Calibri"/>
              </a:rPr>
              <a:t>viên</a:t>
            </a:r>
            <a:endParaRPr sz="1100" b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85800" y="4590288"/>
            <a:ext cx="7772400" cy="38404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150" b="1">
                <a:solidFill>
                  <a:srgbClr val="0F172A"/>
                </a:solidFill>
                <a:latin typeface="Calibri"/>
              </a:rPr>
              <a:t>Điểm kiểm soát dữ liệu: Stored Procedure + Trigger kiểm tra slot, cổng đăng ký, quyền thao tác và lịch sử thay đổi.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1618</Words>
  <Application>Microsoft Office PowerPoint</Application>
  <PresentationFormat>On-screen Show (16:9)</PresentationFormat>
  <Paragraphs>210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 Thong Phan Cong De Tai – PTIT</dc:title>
  <dc:subject>PptxGenJS Presentation</dc:subject>
  <dc:creator>PptxGenJS</dc:creator>
  <cp:lastModifiedBy>Hưng Lê</cp:lastModifiedBy>
  <cp:revision>9</cp:revision>
  <dcterms:created xsi:type="dcterms:W3CDTF">2026-06-28T18:50:42Z</dcterms:created>
  <dcterms:modified xsi:type="dcterms:W3CDTF">2026-06-29T07:19:22Z</dcterms:modified>
</cp:coreProperties>
</file>